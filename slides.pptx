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【ノート】
学術的には AI はもっと広い (ルールベース、探索アルゴリズムなども含む) が、現代の主流は機械学習ベースなので、LT ではこの定義を採用する。GPU の話は定義の守備範囲を逸脱するためスライドには載せない。話の流れで触れたければ口頭補足にとどめる。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【ノート】
次章 (LLM とは) への橋渡し。
【図案】
AI を大円として描き、その中に「画像認識 / レコメンド / 音声認識 / 自動運転」を点在させる。さらにその中の一つの島として LLM の小円を描く。翻訳は LLM のタスクとも被るので、この図からは外して章 2 に譲る。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【図案】
「私は学校に → ?」の ? の候補が「行く / 行きました / 通っている / …」と確率付きで並ぶイメージ図。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【ノート】
章 3 への接続として「LLM はコードも自然言語と同じように扱える → コーディングはどう変わったか？」と振る。
【図案】
テキストで十分 (3 サービス名 + 4 タスクで一目で伝わる)。ロゴアイコンを添えても良いが必須ではない。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【ノート】
この LT の肝。各ターニングポイントを順に並べ、なぜエージェントが革命的かを 4 段階で示す。時間感: 6 分。
【図案】
時系列の変遷図 (4 つの時代を横軸で並べる)。
LLM 以前 → Copilot (2021〜2022) → ChatGPT (2022/11) → 2023〜2024 → エージェント以後 (2024 末〜)
「エージェント以後」のセクションだけ枠 / 色 / サイズで強調 (ヤマ場であることを視覚的に示す)。
各時代で「エディター」「AI」「人間」の関係性を示す。情報過多にならないよう、まず年表として見せ、各ブロックで個別の関係図を出す方式が無難。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【図案】
エディター画面の中に AI のアイコンが入っている構図。コード補完の候補が AI から出ているイメージ。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【図案】
左側にエディター、右側に ChatGPT のチャット画面。両者の間にコピー &amp; ペーストの矢印が双方向に。「行ったり来たり」を視覚化する。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【ノート】
時代区分は「2024 末〜」。Antigravity CLI は次章 (章 4) で「無料で試せる」と橋渡しする。
【図案】
エディター + AI が一体化し、AI が直接コードファイルを read/edit する構図。AI からファイルへ矢印が直接伸びている。スライド 13 (エディター ↔ AI の往復) との対比で「境目が消えた」を見せる。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【ノート】
Antigravity CLI のインストール手順は公式サイトを参照 (具体的な curl URL が公式情報源で再確認できないため、安全側に「公式サイト参照」と記載している)。
【図案】
表内の ★ Antigravity CLI 行を色 / 太字 / 背景で強調。結論文と表の Antigravity 行が視線で自然に結ばれるレイアウト。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【図案】
実際のスクリーンショット (プロンプト送信 → Claude が応答してファイル編集している画面)。または「プロンプト → Claude → ファイル編集」のシンプルなフロー図。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【ノート】
スライド 19 で「動かせる」を見せたあと、ここから「安心して長く使う」ための準備に話を移す。橋渡しの一文を口頭で添える。
【図案】
不要 (テキストで十分)。必要なら「Claude Code ─ gh ─ GitHub」を 3 ボックスで横並びにする構図。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【図案】
3 つの分け方を同心円 3 層で表現。外側からネットワーク層 / 認証層 / エージェント設定層。中心に prod 環境。本文の 3 つの例 (VPN / 開発用アカウント / sandbox) が各層と 1:1 で対応するラベルにする。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【図案】
各カテゴリ行をカード風に余白を取って配置。主役 4 つ (★) は背景色 / 枠で強調。統合系は薄めて「触りだけ」を視覚的に示す。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【ノート】
「このスライドの素案作成でも fact-checker / validity-checker / writing-style-checker / audience-checker を作って使った」を、ここでは匂わせない (章 6 で回収するため)。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【ノート】
口頭で軽く触れる:
- メモリ: Claude が会話で書き溜めるメモ (セッションを跨ぐ)
- hooks: ツール実行の前後にコマンドを差し込む仕組み
- MCP: 外部ツール / サービスとの接続
【図案】
3 つを薄く小さく並べる。主役 4 つとの強弱を視覚的に保つ。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【ノート】
章 5 の締めのメッセージ。具体的にどう聞けばよいかは次のスライド (聞き方の例) で見せる。「Claude に聞けばよいのはコードの話だけではない」という点は章 6 への橋渡しになる (口頭で添える)。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【ノート】
前のスライドのメッセージ「具体は Claude に聞けば十分」を裏付ける具体例。「こう聞けば大体やってくれる」という流れ。章 5 の最後として、章 6 (コード以外の使い道) へ繋ぐ。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【ノート】
時間感: 2 分。狙いはメタ的な回収 + チューニングパートの実例の補完。今回のスライド作成プロセスを実例として紹介し、「コード以外にも使える」というメッセージで非エンジニアも掬う。
目次スライドを作る場合、この章はタイトルのみ表示し中身を隠す (当日まで明かさない)。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【図案】
中央に大きく一文だけ。背景に slide-draft.md のスクリーンショット or 対話ターミナル画面を薄く敷いて、種明かしの瞬間を視覚で支える。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【ノート】
実際の対話の一部、または process-log.md の抜粋を見せる。
【図案】
横方向のフロー図 (4 ステップ)。各ステップに「対話アイコン」を添える。各ステップに具体的なアウトプット (構成案 / ブロック一覧 / slide-draft.md / 最終スライド) を併記。process-log.md の抜粋を 1 つ実際に貼ると説得力が増す。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【ノート】
「= 章 5 の主役 4 つを全部使った形」「今このスライドも〜」は口頭で補足。スライドはシンプルに保つ。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【図案】
GitHub のリポジトリページのスクリーンショット (or QR コード)。聴衆が後で見に行ける形にする。URL: https://github.com/minty1202/lt-workspace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【ノート】
未経験者 / 経験者の 2 メッセージ並列は意図的 (聴衆 2 層への対比、まとめスライドの定型として例外扱い)。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554480"/>
            <a:ext cx="2834640" cy="2834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1"/>
          <p:cNvSpPr/>
          <p:nvPr/>
        </p:nvSpPr>
        <p:spPr>
          <a:xfrm>
            <a:off x="868680" y="1325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0A5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CODING AGENT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68680" y="17830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のはなし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86968" y="3474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B2D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 を中心に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63E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CONTENTS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目次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25880" y="18745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とは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30428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230428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LLM とは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273405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73405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コーディングはどう変わったか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316382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316382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基本的な使い方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35935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359359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チューニング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48640" y="40233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40233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コード以外の使い道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48640" y="445312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07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445312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まとめ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600200"/>
            <a:ext cx="2743200" cy="2743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1"/>
          <p:cNvSpPr/>
          <p:nvPr/>
        </p:nvSpPr>
        <p:spPr>
          <a:xfrm>
            <a:off x="86868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0A5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22960" y="10972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0" b="1" dirty="0">
                <a:solidFill>
                  <a:srgbClr val="60A5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とは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86968" y="39776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2D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そもそも AI とは何か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0" y="777240"/>
            <a:ext cx="731520" cy="73152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3750" y="974750"/>
            <a:ext cx="336499" cy="3364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73736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そもそも AI って何？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1. AI とは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62" y="1087222"/>
            <a:ext cx="294437" cy="2944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91440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ひとことで言うと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機械学習ベースの定義では：</a:t>
            </a:r>
            <a:endParaRPr lang="en-US" sz="19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</a:t>
            </a:r>
            <a:endParaRPr lang="en-US" sz="19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大量のデータから学習して、判断や出力を返す技術です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4864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 LT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76656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 / 39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1. AI とは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62" y="1087222"/>
            <a:ext cx="294437" cy="2944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91440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身近にある AI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画像認識 (顔認証、写真の自動タグ付け)</a:t>
            </a:r>
            <a:endParaRPr lang="en-US" sz="1800" dirty="0"/>
          </a:p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レコメンド (YouTube、Amazon、Netflix)</a:t>
            </a:r>
            <a:endParaRPr lang="en-US" sz="1800" dirty="0"/>
          </a:p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翻訳 (Google 翻訳、DeepL)</a:t>
            </a:r>
            <a:endParaRPr lang="en-US" sz="1800" dirty="0"/>
          </a:p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音声認識 (Siri、Alexa)</a:t>
            </a:r>
            <a:endParaRPr lang="en-US" sz="1800" dirty="0"/>
          </a:p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自動運転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 LT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76656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 / 39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1. AI とは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62" y="1087222"/>
            <a:ext cx="294437" cy="2944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91440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ここまでのまとめ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0233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には様々な種類があります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その中で「言葉を扱うのが得意」な一種が LLM です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937760" y="1874520"/>
            <a:ext cx="3566160" cy="2514600"/>
          </a:xfrm>
          <a:prstGeom prst="ellipse">
            <a:avLst/>
          </a:prstGeom>
          <a:solidFill>
            <a:srgbClr val="EFF4F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66360" y="19842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257800" y="2423160"/>
            <a:ext cx="109728" cy="109728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0" name="Text 7"/>
          <p:cNvSpPr/>
          <p:nvPr/>
        </p:nvSpPr>
        <p:spPr>
          <a:xfrm>
            <a:off x="5422392" y="236829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画像認識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178040" y="2423160"/>
            <a:ext cx="109728" cy="109728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2" name="Text 9"/>
          <p:cNvSpPr/>
          <p:nvPr/>
        </p:nvSpPr>
        <p:spPr>
          <a:xfrm>
            <a:off x="7342632" y="236829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レコメンド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257800" y="3566160"/>
            <a:ext cx="109728" cy="109728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4" name="Text 11"/>
          <p:cNvSpPr/>
          <p:nvPr/>
        </p:nvSpPr>
        <p:spPr>
          <a:xfrm>
            <a:off x="5422392" y="351129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音声認識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223760" y="3566160"/>
            <a:ext cx="109728" cy="109728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6" name="Text 13"/>
          <p:cNvSpPr/>
          <p:nvPr/>
        </p:nvSpPr>
        <p:spPr>
          <a:xfrm>
            <a:off x="7388352" y="351129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自動運転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858561" y="2791663"/>
            <a:ext cx="1724558" cy="863194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858561" y="2791663"/>
            <a:ext cx="1724558" cy="863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LLM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54864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 LT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76656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 / 39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600200"/>
            <a:ext cx="2743200" cy="2743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1"/>
          <p:cNvSpPr/>
          <p:nvPr/>
        </p:nvSpPr>
        <p:spPr>
          <a:xfrm>
            <a:off x="86868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0A5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22960" y="10972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0" b="1" dirty="0">
                <a:solidFill>
                  <a:srgbClr val="60A5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LLM とは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86968" y="39776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2D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の中の「言葉を扱う」一種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0" y="777240"/>
            <a:ext cx="731520" cy="73152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3750" y="974750"/>
            <a:ext cx="336499" cy="3364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73736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LLM ってなに？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2. LLM とは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62" y="1087222"/>
            <a:ext cx="294437" cy="2944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91440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ひとことで言うと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0233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Large Language Model = 大規模言語モデル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大量のテキストから「次に来る単語」を予測するよう学習したモデルです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(= ものすごく賢い「文章の続き予測マシン」)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846320" y="1783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「私は学校に  →  ？」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846320" y="2423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行く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2478024"/>
            <a:ext cx="1737360" cy="274320"/>
          </a:xfrm>
          <a:prstGeom prst="roundRect">
            <a:avLst>
              <a:gd name="adj" fmla="val 10000"/>
            </a:avLst>
          </a:prstGeom>
          <a:solidFill>
            <a:srgbClr val="EFF4FB"/>
          </a:solidFill>
          <a:ln/>
        </p:spPr>
      </p:sp>
      <p:sp>
        <p:nvSpPr>
          <p:cNvPr id="10" name="Shape 7"/>
          <p:cNvSpPr/>
          <p:nvPr/>
        </p:nvSpPr>
        <p:spPr>
          <a:xfrm>
            <a:off x="6217920" y="2478024"/>
            <a:ext cx="781812" cy="2743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8001000" y="24231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45%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46320" y="29535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行きました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17920" y="3008376"/>
            <a:ext cx="1737360" cy="274320"/>
          </a:xfrm>
          <a:prstGeom prst="roundRect">
            <a:avLst>
              <a:gd name="adj" fmla="val 10000"/>
            </a:avLst>
          </a:prstGeom>
          <a:solidFill>
            <a:srgbClr val="EFF4FB"/>
          </a:solidFill>
          <a:ln/>
        </p:spPr>
      </p:sp>
      <p:sp>
        <p:nvSpPr>
          <p:cNvPr id="14" name="Shape 11"/>
          <p:cNvSpPr/>
          <p:nvPr/>
        </p:nvSpPr>
        <p:spPr>
          <a:xfrm>
            <a:off x="6217920" y="3008376"/>
            <a:ext cx="469087" cy="2743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8001000" y="295351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27%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46320" y="34838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通っている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17920" y="3538728"/>
            <a:ext cx="1737360" cy="274320"/>
          </a:xfrm>
          <a:prstGeom prst="roundRect">
            <a:avLst>
              <a:gd name="adj" fmla="val 10000"/>
            </a:avLst>
          </a:prstGeom>
          <a:solidFill>
            <a:srgbClr val="EFF4FB"/>
          </a:solidFill>
          <a:ln/>
        </p:spPr>
      </p:sp>
      <p:sp>
        <p:nvSpPr>
          <p:cNvPr id="18" name="Shape 15"/>
          <p:cNvSpPr/>
          <p:nvPr/>
        </p:nvSpPr>
        <p:spPr>
          <a:xfrm>
            <a:off x="6217920" y="3538728"/>
            <a:ext cx="277978" cy="2743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8001000" y="348386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16%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46320" y="40142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…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217920" y="4069080"/>
            <a:ext cx="1737360" cy="274320"/>
          </a:xfrm>
          <a:prstGeom prst="roundRect">
            <a:avLst>
              <a:gd name="adj" fmla="val 10000"/>
            </a:avLst>
          </a:prstGeom>
          <a:solidFill>
            <a:srgbClr val="EFF4FB"/>
          </a:solidFill>
          <a:ln/>
        </p:spPr>
      </p:sp>
      <p:sp>
        <p:nvSpPr>
          <p:cNvPr id="22" name="Shape 19"/>
          <p:cNvSpPr/>
          <p:nvPr/>
        </p:nvSpPr>
        <p:spPr>
          <a:xfrm>
            <a:off x="6217920" y="4069080"/>
            <a:ext cx="208483" cy="274320"/>
          </a:xfrm>
          <a:prstGeom prst="roundRect">
            <a:avLst>
              <a:gd name="adj" fmla="val 13158"/>
            </a:avLst>
          </a:prstGeom>
          <a:solidFill>
            <a:srgbClr val="2563EB"/>
          </a:solidFill>
          <a:ln/>
        </p:spPr>
      </p:sp>
      <p:sp>
        <p:nvSpPr>
          <p:cNvPr id="23" name="Text 20"/>
          <p:cNvSpPr/>
          <p:nvPr/>
        </p:nvSpPr>
        <p:spPr>
          <a:xfrm>
            <a:off x="8001000" y="401421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12%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 LT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76656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 / 39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2. LLM とは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62" y="1087222"/>
            <a:ext cx="294437" cy="2944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91440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代表的な LLM とできること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例：ChatGPT (OpenAI) / Claude (Anthropic) / Gemini (Google)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できること (1 つのモデルでこなせます)：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対話・質問応答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文章生成・要約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翻訳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コードの読み書き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 LT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76656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9 / 39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600200"/>
            <a:ext cx="2743200" cy="2743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1"/>
          <p:cNvSpPr/>
          <p:nvPr/>
        </p:nvSpPr>
        <p:spPr>
          <a:xfrm>
            <a:off x="86868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0A5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22960" y="10972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0" b="1" dirty="0">
                <a:solidFill>
                  <a:srgbClr val="60A5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コーディングは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どう変わったか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86968" y="39776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2D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LLM 以前からエージェント以後まで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3. コーディングはどう変わったか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62" y="1087222"/>
            <a:ext cx="294437" cy="2944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91440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LLM 以前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コードは人間が一行ずつ書く時代でした</a:t>
            </a:r>
            <a:endParaRPr lang="en-US" sz="17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補完は「書いてある文字から候補を出す」だけで、意味は理解していません</a:t>
            </a:r>
            <a:endParaRPr lang="en-US" sz="17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(裏側は LSP = エディタに補完などを提供する仕組み)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 LT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76656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11 / 39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3. コーディングはどう変わったか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62" y="1087222"/>
            <a:ext cx="294437" cy="2944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91440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GitHub Copilot 登場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0233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2021〜2022 年、GitHub Copilot 登場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エディターの中に AI が住み、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補完が「次の文字の予測」から「次の数行の生成」へ変わりました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846320" y="1783080"/>
            <a:ext cx="3749040" cy="2697480"/>
          </a:xfrm>
          <a:prstGeom prst="roundRect">
            <a:avLst>
              <a:gd name="adj" fmla="val 2034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846320" y="1783080"/>
            <a:ext cx="3749040" cy="292608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0" y="188366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7"/>
          <p:cNvSpPr/>
          <p:nvPr/>
        </p:nvSpPr>
        <p:spPr>
          <a:xfrm>
            <a:off x="5212080" y="188366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8"/>
          <p:cNvSpPr/>
          <p:nvPr/>
        </p:nvSpPr>
        <p:spPr>
          <a:xfrm>
            <a:off x="5394960" y="188366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Shape 9"/>
          <p:cNvSpPr/>
          <p:nvPr/>
        </p:nvSpPr>
        <p:spPr>
          <a:xfrm>
            <a:off x="5120640" y="2331720"/>
            <a:ext cx="1874520" cy="109728"/>
          </a:xfrm>
          <a:prstGeom prst="rect">
            <a:avLst/>
          </a:prstGeom>
          <a:solidFill>
            <a:srgbClr val="2E4978"/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2624328"/>
            <a:ext cx="1574597" cy="109728"/>
          </a:xfrm>
          <a:prstGeom prst="rect">
            <a:avLst/>
          </a:prstGeom>
          <a:solidFill>
            <a:srgbClr val="2E4978"/>
          </a:solidFill>
          <a:ln/>
        </p:spPr>
      </p:sp>
      <p:sp>
        <p:nvSpPr>
          <p:cNvPr id="14" name="Shape 11"/>
          <p:cNvSpPr/>
          <p:nvPr/>
        </p:nvSpPr>
        <p:spPr>
          <a:xfrm>
            <a:off x="5120640" y="2916936"/>
            <a:ext cx="1274674" cy="109728"/>
          </a:xfrm>
          <a:prstGeom prst="rect">
            <a:avLst/>
          </a:prstGeom>
          <a:solidFill>
            <a:srgbClr val="2E4978"/>
          </a:solidFill>
          <a:ln/>
        </p:spPr>
      </p:sp>
      <p:sp>
        <p:nvSpPr>
          <p:cNvPr id="15" name="Shape 12"/>
          <p:cNvSpPr/>
          <p:nvPr/>
        </p:nvSpPr>
        <p:spPr>
          <a:xfrm>
            <a:off x="7589520" y="3429000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11880"/>
            <a:ext cx="274320" cy="27432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120640" y="3767328"/>
            <a:ext cx="2324405" cy="384048"/>
          </a:xfrm>
          <a:prstGeom prst="roundRect">
            <a:avLst>
              <a:gd name="adj" fmla="val 9524"/>
            </a:avLst>
          </a:prstGeom>
          <a:solidFill>
            <a:srgbClr val="60A5FA"/>
          </a:solidFill>
          <a:ln/>
        </p:spPr>
      </p:sp>
      <p:sp>
        <p:nvSpPr>
          <p:cNvPr id="18" name="Text 14"/>
          <p:cNvSpPr/>
          <p:nvPr/>
        </p:nvSpPr>
        <p:spPr>
          <a:xfrm>
            <a:off x="5212080" y="376732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が次の数行を生成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4864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 LT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76656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12 / 39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3. コーディングはどう変わったか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62" y="1087222"/>
            <a:ext cx="294437" cy="2944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91440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ChatGPT 登場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0233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2022 年 11 月 30 日、ChatGPT 登場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エディターと AI チャットが分離し、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コピペでの「行ったり来たり」が日常化しました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846320" y="2537460"/>
            <a:ext cx="1574597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846320" y="2537460"/>
            <a:ext cx="157459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エディター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020763" y="2537460"/>
            <a:ext cx="1574597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020763" y="2537460"/>
            <a:ext cx="157459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ChatGPT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66637" y="2967228"/>
            <a:ext cx="508406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975043" y="3296412"/>
            <a:ext cx="-508406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6420917" y="2564892"/>
            <a:ext cx="599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コピペ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 LT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76656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13 / 39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3. コーディングはどう変わったか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62" y="1087222"/>
            <a:ext cx="294437" cy="2944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91440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ネイティブエディタへ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GPT-4 / Claude / Gemini が登場し、長文やコードの理解精度が大きく向上しました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Cursor などの AI を前提に作られたエディタが登場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 コピペなしで、エディター内から AI を呼べるようになりました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 LT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76656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14 / 39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3. コーディングはどう変わったか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62" y="1087222"/>
            <a:ext cx="294437" cy="2944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91440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コーディングエージェント以後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が直接コードを読んだり書き換えたりするようになり、エディターと AI の境目が消えました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80467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94944" y="2258568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37" y="2362261"/>
            <a:ext cx="176662" cy="1766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194560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Cursor  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agent mode, 2024/11〜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2779776"/>
            <a:ext cx="80467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94944" y="2843784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637" y="2947477"/>
            <a:ext cx="176662" cy="1766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2779776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  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Anthropic, 2025/2 preview / 2025/5 GA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48640" y="3364992"/>
            <a:ext cx="80467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94944" y="342900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637" y="3532693"/>
            <a:ext cx="176662" cy="17666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3364992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Codex CLI  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OpenAI, 2025/4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548640" y="3950208"/>
            <a:ext cx="80467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94944" y="4014216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637" y="4117909"/>
            <a:ext cx="176662" cy="17666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80160" y="3950208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Antigravity CLI  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Google, 2026/5 リリース。Gemini CLI の後継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54864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 LT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676656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 / 39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600200"/>
            <a:ext cx="2743200" cy="2743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1"/>
          <p:cNvSpPr/>
          <p:nvPr/>
        </p:nvSpPr>
        <p:spPr>
          <a:xfrm>
            <a:off x="86868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0A5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22960" y="10972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0" b="1" dirty="0">
                <a:solidFill>
                  <a:srgbClr val="60A5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04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基本的な使い方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86968" y="39776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2D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最初の一歩を踏み出す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4. 基本的な使い方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先に結論：無料で試したい人は Antigravity CLI を選んでください。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8046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468880"/>
                <a:gridCol w="219456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ツール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Mac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WSL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利用に必要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Claude Code</a:t>
                      </a:r>
                      <a:endParaRPr lang="en-US" sz="9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brew install --cask claude-code</a:t>
                      </a:r>
                      <a:endParaRPr lang="en-US" sz="9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または</a:t>
                      </a:r>
                      <a:endParaRPr lang="en-US" sz="9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curl -fsSL https://claude.ai/install.sh | bash</a:t>
                      </a:r>
                      <a:endParaRPr lang="en-US" sz="9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curl -fsSL https://claude.ai/install.sh | bash</a:t>
                      </a:r>
                      <a:endParaRPr lang="en-US" sz="9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Claude Pro / Max などの有料プラン、または API キー</a:t>
                      </a:r>
                      <a:endParaRPr lang="en-US" sz="9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★ Antigravity CLI</a:t>
                      </a:r>
                      <a:endParaRPr lang="en-US" sz="9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公式サイトの手順に従ってインストール</a:t>
                      </a:r>
                      <a:endParaRPr lang="en-US" sz="9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(https://antigravity.google/)</a:t>
                      </a:r>
                      <a:endParaRPr lang="en-US" sz="9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公式サイトの手順に従ってインストール</a:t>
                      </a:r>
                      <a:endParaRPr lang="en-US" sz="9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Google アカウント (無料ティアあり)</a:t>
                      </a:r>
                      <a:endParaRPr lang="en-US" sz="9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Codex CLI</a:t>
                      </a:r>
                      <a:endParaRPr lang="en-US" sz="9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brew install --cask codex</a:t>
                      </a:r>
                      <a:endParaRPr lang="en-US" sz="9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または</a:t>
                      </a:r>
                      <a:endParaRPr lang="en-US" sz="9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curl -fsSL https://chatgpt.com/codex/install.sh | sh</a:t>
                      </a:r>
                      <a:endParaRPr lang="en-US" sz="9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curl -fsSL https://chatgpt.com/codex/install.sh | sh</a:t>
                      </a:r>
                      <a:endParaRPr lang="en-US" sz="9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ChatGPT Plus / Pro などの有料プラン、または API キー</a:t>
                      </a:r>
                      <a:endParaRPr lang="en-US" sz="9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 LT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76656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17 / 39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4. 基本的な使い方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62" y="1087222"/>
            <a:ext cx="294437" cy="2944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91440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起動する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Code： ターミナルで claude と打つだけです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初回はログインが必要です (Claude アカウント認証または API キー)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Antigravity CLI： ターミナルで agy と打って起動します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 LT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76656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18 / 39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4. 基本的な使い方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62" y="1087222"/>
            <a:ext cx="294437" cy="2944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91440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最初のプロンプト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0233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プロンプトを送ると、Claude が応答し、必要に応じてファイルを編集します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例：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「ユーザー一覧画面の検索機能を実装するので、</a:t>
            </a:r>
            <a:endParaRPr lang="en-US" sz="1300" dirty="0"/>
          </a:p>
          <a:p>
            <a:pPr lvl="1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関連する既存実装の調査をお願いします」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「https://github.com/owner/repo/issues/123</a:t>
            </a:r>
            <a:endParaRPr lang="en-US" sz="1300" dirty="0"/>
          </a:p>
          <a:p>
            <a:pPr lvl="1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こちらを実装するので、関連コードを確認してください。</a:t>
            </a:r>
            <a:endParaRPr lang="en-US" sz="1300" dirty="0"/>
          </a:p>
          <a:p>
            <a:pPr lvl="1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その上で実装計画を立てます」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0" y="1920240"/>
            <a:ext cx="3383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0" y="192024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プロンプトを送る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720840" y="2523744"/>
            <a:ext cx="0" cy="310896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029200" y="2871216"/>
            <a:ext cx="3383280" cy="566928"/>
          </a:xfrm>
          <a:prstGeom prst="roundRect">
            <a:avLst>
              <a:gd name="adj" fmla="val 9677"/>
            </a:avLst>
          </a:prstGeom>
          <a:solidFill>
            <a:srgbClr val="2563E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29200" y="287121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が応答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720840" y="3474720"/>
            <a:ext cx="0" cy="310896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029200" y="3822192"/>
            <a:ext cx="3383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029200" y="382219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ファイルを編集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 LT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76656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19 / 39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4. 基本的な使い方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62" y="1087222"/>
            <a:ext cx="294437" cy="2944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91440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gh（GitHub CLI）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gh = GitHub の公式 CLI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ターミナルから PR / issue / repo を操作できます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インストール：Mac は brew install gh / WSL は公式ガイドに従う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入れておくと Claude Code から PR 作成や issue 確認を任せられます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 LT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76656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 / 39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4. 基本的な使い方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62" y="1087222"/>
            <a:ext cx="294437" cy="2944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91440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本番環境から切り離す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0233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コーディングエージェントを本番環境 / 本番データから切り離します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通信を分ける (例: VPN で本番に到達できなくする)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認証情報を分ける (例: 開発用アカウントで起動)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エージェント自身の制限機能を使う (例: sandbox / 厳格モード)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詳しくは各サービス・ツールのベストプラクティスを確認してください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846320" y="1783080"/>
            <a:ext cx="3749040" cy="2697480"/>
          </a:xfrm>
          <a:prstGeom prst="ellipse">
            <a:avLst/>
          </a:prstGeom>
          <a:solidFill>
            <a:srgbClr val="EFF4F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08676" y="2187702"/>
            <a:ext cx="2624328" cy="1888236"/>
          </a:xfrm>
          <a:prstGeom prst="ellipse">
            <a:avLst/>
          </a:prstGeom>
          <a:solidFill>
            <a:srgbClr val="DCE6F5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33542" y="2565349"/>
            <a:ext cx="1574597" cy="1132942"/>
          </a:xfrm>
          <a:prstGeom prst="ellipse">
            <a:avLst/>
          </a:prstGeom>
          <a:solidFill>
            <a:srgbClr val="C3D6F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0" y="2875788"/>
            <a:ext cx="822960" cy="512064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1" name="Text 8"/>
          <p:cNvSpPr/>
          <p:nvPr/>
        </p:nvSpPr>
        <p:spPr>
          <a:xfrm>
            <a:off x="6309360" y="2875788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本番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46320" y="1737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通信を分ける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06440" y="22416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認証を分ける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 LT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76656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21 / 39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4. 基本的な使い方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62" y="1087222"/>
            <a:ext cx="294437" cy="2944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91440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業務で使う前に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仕事で使う場合は：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現場 (上司 / IT / セキュリティ) に必ず確認しましょう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学習機能をオフにします</a:t>
            </a:r>
            <a:endParaRPr lang="en-US" sz="1300" dirty="0"/>
          </a:p>
          <a:p>
            <a:pPr lvl="1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(= 入力内容が AI 提供元の学習に使われないようにするため)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具体的な設定方法は各エージェントの公式情報を確認してください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(Claude.ai / Antigravity / Codex などで設定場所が異なります)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 LT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76656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22 / 39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600200"/>
            <a:ext cx="2743200" cy="2743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1"/>
          <p:cNvSpPr/>
          <p:nvPr/>
        </p:nvSpPr>
        <p:spPr>
          <a:xfrm>
            <a:off x="86868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0A5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22960" y="10972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0" b="1" dirty="0">
                <a:solidFill>
                  <a:srgbClr val="60A5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05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チューニング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86968" y="39776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2D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を自分の作業に合わせて育てる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5. チューニング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チューニング手段は大きく 3 つのカテゴリに分かれます。今日扱う主役は ★ の 4 つです。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4993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74520"/>
            <a:ext cx="2499360" cy="6400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249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指示系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213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が参照する指示・記憶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3291840"/>
            <a:ext cx="222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563E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★ CLAUDE.md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563E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★ ルール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メモリ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22320" y="1874520"/>
            <a:ext cx="24993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22320" y="1874520"/>
            <a:ext cx="2499360" cy="6400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1" name="Text 9"/>
          <p:cNvSpPr/>
          <p:nvPr/>
        </p:nvSpPr>
        <p:spPr>
          <a:xfrm>
            <a:off x="3322320" y="1874520"/>
            <a:ext cx="249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実行系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05200" y="2606040"/>
            <a:ext cx="213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定型作業や専門タスクを任せる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59480" y="3291840"/>
            <a:ext cx="222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563E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★ スキル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563E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★ サブエージェント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96000" y="1874520"/>
            <a:ext cx="2499360" cy="2468880"/>
          </a:xfrm>
          <a:prstGeom prst="roundRect">
            <a:avLst>
              <a:gd name="adj" fmla="val 2963"/>
            </a:avLst>
          </a:prstGeom>
          <a:solidFill>
            <a:srgbClr val="EFF4FB"/>
          </a:solidFill>
          <a:ln w="12700">
            <a:solidFill>
              <a:srgbClr val="DCE6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96000" y="1874520"/>
            <a:ext cx="2499360" cy="6400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6096000" y="1874520"/>
            <a:ext cx="249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統合系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78880" y="2606040"/>
            <a:ext cx="213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外部とつなぐ（触りだけ）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33160" y="3291840"/>
            <a:ext cx="222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hooks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MCP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 LT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6656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24 / 39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5. チューニング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62" y="1087222"/>
            <a:ext cx="294437" cy="2944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91440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CLAUDE.md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プロジェクト全体に共通の指示を書くファイルです</a:t>
            </a:r>
            <a:endParaRPr lang="en-US" sz="19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</a:t>
            </a:r>
            <a:endParaRPr lang="en-US" sz="19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例：ビルドコマンド、コーディング規約、ワークフロー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4864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 LT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76656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25 / 39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5. チューニング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62" y="1087222"/>
            <a:ext cx="294437" cy="2944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91440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ルール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特定のディレクトリやファイルにだけ適用したいルール</a:t>
            </a:r>
            <a:endParaRPr lang="en-US" sz="19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(コーディング規約、レビュー観点、運用上の決まりごと、など)</a:t>
            </a:r>
            <a:endParaRPr lang="en-US" sz="19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.claude/rules/&lt;topic&gt;.md に書きます</a:t>
            </a:r>
            <a:endParaRPr lang="en-US" sz="19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</a:t>
            </a:r>
            <a:endParaRPr lang="en-US" sz="19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例：各言語のコーディングルール、フレームワークの責務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4864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 LT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76656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26 / 39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5. チューニング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62" y="1087222"/>
            <a:ext cx="294437" cy="2944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91440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スキル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繰り返し使う手順をパッケージ化</a:t>
            </a:r>
            <a:endParaRPr lang="en-US" sz="19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必要な場面で Claude が自動で呼び出します</a:t>
            </a:r>
            <a:endParaRPr lang="en-US" sz="19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</a:t>
            </a:r>
            <a:endParaRPr lang="en-US" sz="19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例：コミット前に変更の要約とリスク確認を自動で挟む</a:t>
            </a:r>
            <a:endParaRPr lang="en-US" sz="19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(公式の summarize-changes スキル)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4864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 LT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76656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27 / 39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5. チューニング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62" y="1087222"/>
            <a:ext cx="294437" cy="2944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91440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サブエージェント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専門役割を持たせたサブの Claude です</a:t>
            </a:r>
            <a:endParaRPr lang="en-US" sz="18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例：コードレビュー専門 / 文章を特定の観点でチェックする専門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 LT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76656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28 / 39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5. チューニング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62" y="1087222"/>
            <a:ext cx="294437" cy="2944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91440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その他の手段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メモリ / hooks / MCP もあります (詳細は割愛)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 LT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76656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29 / 39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051560" cy="1051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73736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今日は「こういう手段がある」とだけ</a:t>
            </a:r>
            <a:endParaRPr lang="en-US" sz="2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覚えてください</a:t>
            </a:r>
            <a:endParaRPr lang="en-US" sz="2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</a:t>
            </a:r>
            <a:endParaRPr lang="en-US" sz="2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60A5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具体は Claude に聞けば十分です</a:t>
            </a:r>
            <a:endParaRPr lang="en-US" sz="2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5. チューニング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62" y="1087222"/>
            <a:ext cx="294437" cy="2944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91440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への聞き方の例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こういうのがあった気がするので、こうしたいです。</a:t>
            </a:r>
            <a:endParaRPr lang="en-US" sz="19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これを公式の情報で確認してください。</a:t>
            </a:r>
            <a:endParaRPr lang="en-US" sz="19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その時にベストプラクティスも確認してください。</a:t>
            </a:r>
            <a:endParaRPr lang="en-US" sz="19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その上で、今回の意向に沿ったカスタマイズをしてください。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4864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 LT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76656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31 / 39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600200"/>
            <a:ext cx="2743200" cy="2743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1"/>
          <p:cNvSpPr/>
          <p:nvPr/>
        </p:nvSpPr>
        <p:spPr>
          <a:xfrm>
            <a:off x="86868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0A5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22960" y="10972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0" b="1" dirty="0">
                <a:solidFill>
                  <a:srgbClr val="60A5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06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コード以外の使い道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86968" y="39776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2D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コードだけじゃない使い道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0" y="777240"/>
            <a:ext cx="731520" cy="73152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3750" y="974750"/>
            <a:ext cx="336499" cy="3364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73736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実は、このスライドも</a:t>
            </a:r>
            <a:endParaRPr lang="en-US" sz="2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 で作っています</a:t>
            </a:r>
            <a:endParaRPr lang="en-US" sz="2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6. コード以外の使い道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62" y="1087222"/>
            <a:ext cx="294437" cy="2944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91440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作り方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0233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対話で構成を詰める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 各章のブロックを決める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 素案を Markdown で書く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 スライドに変換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937760" y="182880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5"/>
          <p:cNvSpPr/>
          <p:nvPr/>
        </p:nvSpPr>
        <p:spPr>
          <a:xfrm>
            <a:off x="49377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0" y="1828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対話で構成を詰める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129784" y="2231136"/>
            <a:ext cx="0" cy="256032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937760" y="2487168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0" y="24871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各章のブロックを決める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129784" y="2889504"/>
            <a:ext cx="0" cy="256032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937760" y="3145536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3"/>
          <p:cNvSpPr/>
          <p:nvPr/>
        </p:nvSpPr>
        <p:spPr>
          <a:xfrm>
            <a:off x="4937760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0" y="314553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素案を Markdown で書く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129784" y="3547872"/>
            <a:ext cx="0" cy="256032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937760" y="3803904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7"/>
          <p:cNvSpPr/>
          <p:nvPr/>
        </p:nvSpPr>
        <p:spPr>
          <a:xfrm>
            <a:off x="493776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486400" y="380390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スライドに変換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4864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 LT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76656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34 / 39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6. コード以外の使い道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62" y="1087222"/>
            <a:ext cx="294437" cy="2944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91440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使ったチューニング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このプロジェクトでは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CLAUDE.md / ルール / スキル / サブエージェントを全部使いました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例：audience-checker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(聴衆視点でスライドを評価するサブエージェント)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詳細はリポジトリで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 LT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76656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35 / 39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6. コード以外の使い道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62" y="1087222"/>
            <a:ext cx="294437" cy="2944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91440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リポジトリで公開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このプロジェクトはリポジトリで公開しています</a:t>
            </a:r>
            <a:endParaRPr lang="en-US" sz="17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対話の経緯まで遡って見られます</a:t>
            </a:r>
            <a:endParaRPr lang="en-US" sz="17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github.com/minty1202/lt-workspace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749040"/>
            <a:ext cx="8046720" cy="749808"/>
          </a:xfrm>
          <a:prstGeom prst="roundRect">
            <a:avLst>
              <a:gd name="adj" fmla="val 8537"/>
            </a:avLst>
          </a:prstGeom>
          <a:solidFill>
            <a:srgbClr val="EFF4FB"/>
          </a:solidFill>
          <a:ln w="12700">
            <a:solidFill>
              <a:srgbClr val="DCE6F5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374904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図案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QR コード (https://github.com/minty1202/lt-workspace)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 LT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76656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36 / 39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600200"/>
            <a:ext cx="2743200" cy="2743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1"/>
          <p:cNvSpPr/>
          <p:nvPr/>
        </p:nvSpPr>
        <p:spPr>
          <a:xfrm>
            <a:off x="86868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0A5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22960" y="10972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0" b="1" dirty="0">
                <a:solidFill>
                  <a:srgbClr val="60A5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07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まとめ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86968" y="39776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2D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持ち帰ってほしいこと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7. まとめ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62" y="1087222"/>
            <a:ext cx="294437" cy="2944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91440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持ち帰ってほしいこと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未経験者の方へ：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公式サイト (https://antigravity.google/) から Antigravity CLI を導入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 agy で起動して、今やりたい作業を伝えてみましょう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(例：「この CSV を集計したい」「この設定ファイルの意味を教えて」)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無料で試せます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経験者の方へ：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CLAUDE.md やルールから始めて、自分の作業に合わせて育てていきましょう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 LT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766560" y="47594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38 / 39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051560" cy="1051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73736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細かい使い方は</a:t>
            </a:r>
            <a:endParaRPr lang="en-US" sz="2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自身に聞けば十分です</a:t>
            </a:r>
            <a:endParaRPr lang="en-US" sz="2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</a:t>
            </a:r>
            <a:endParaRPr lang="en-US" sz="2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60A5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コード以外にも様々に使えます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コーディングエージェント LT</dc:title>
  <dc:subject>PptxGenJS Presentation</dc:subject>
  <dc:creator>LT (with Claude Code)</dc:creator>
  <cp:lastModifiedBy>LT (with Claude Code)</cp:lastModifiedBy>
  <cp:revision>1</cp:revision>
  <dcterms:created xsi:type="dcterms:W3CDTF">2026-05-29T05:12:21Z</dcterms:created>
  <dcterms:modified xsi:type="dcterms:W3CDTF">2026-05-29T05:12:21Z</dcterms:modified>
</cp:coreProperties>
</file>